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4941ea90554498" /><Relationship Type="http://schemas.openxmlformats.org/officeDocument/2006/relationships/extended-properties" Target="/docProps/app.xml" Id="Rf097f644f8c54c15" /><Relationship Type="http://schemas.openxmlformats.org/officeDocument/2006/relationships/officeDocument" Target="/ppt/presentation.xml" Id="Rde6b14e2401f48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a0074864b4ffa"/>
  </p:sldMasterIdLst>
  <p:notesMasterIdLst>
    <p:notesMasterId xmlns:r="http://schemas.openxmlformats.org/officeDocument/2006/relationships" r:id="R470156191fb54886"/>
  </p:notesMasterIdLst>
  <p:sldIdLst>
    <p:sldId xmlns:r="http://schemas.openxmlformats.org/officeDocument/2006/relationships" id="256" r:id="Rec8dd0f88aad473c"/>
    <p:sldId xmlns:r="http://schemas.openxmlformats.org/officeDocument/2006/relationships" id="257" r:id="Rc6105a35d5044b70"/>
    <p:sldId xmlns:r="http://schemas.openxmlformats.org/officeDocument/2006/relationships" id="258" r:id="Re8ee89e0084841cc"/>
    <p:sldId xmlns:r="http://schemas.openxmlformats.org/officeDocument/2006/relationships" id="259" r:id="R50194fb5e7f04d2a"/>
    <p:sldId xmlns:r="http://schemas.openxmlformats.org/officeDocument/2006/relationships" id="260" r:id="Rad43b51c77c044cc"/>
    <p:sldId xmlns:r="http://schemas.openxmlformats.org/officeDocument/2006/relationships" id="261" r:id="R9e7596e676dd4a48"/>
    <p:sldId xmlns:r="http://schemas.openxmlformats.org/officeDocument/2006/relationships" id="262" r:id="R752b226525584ac4"/>
    <p:sldId xmlns:r="http://schemas.openxmlformats.org/officeDocument/2006/relationships" id="263" r:id="Ra593e0c4a23b498f"/>
    <p:sldId xmlns:r="http://schemas.openxmlformats.org/officeDocument/2006/relationships" id="264" r:id="Rc2cb4a25ddf74171"/>
    <p:sldId xmlns:r="http://schemas.openxmlformats.org/officeDocument/2006/relationships" id="265" r:id="Rf646513107974462"/>
    <p:sldId xmlns:r="http://schemas.openxmlformats.org/officeDocument/2006/relationships" id="266" r:id="Rac4816c2a4ac4f36"/>
    <p:sldId xmlns:r="http://schemas.openxmlformats.org/officeDocument/2006/relationships" id="267" r:id="R12031d2d1ef04a09"/>
    <p:sldId xmlns:r="http://schemas.openxmlformats.org/officeDocument/2006/relationships" id="268" r:id="Rdaca29824bd94c59"/>
    <p:sldId xmlns:r="http://schemas.openxmlformats.org/officeDocument/2006/relationships" id="269" r:id="R94d2d5233bb941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a0074864b4ffa" /><Relationship Type="http://schemas.openxmlformats.org/officeDocument/2006/relationships/theme" Target="/ppt/theme/theme1.xml" Id="R56acf149f0814cf4" /><Relationship Type="http://schemas.openxmlformats.org/officeDocument/2006/relationships/notesMaster" Target="/ppt/notesMasters/notesMaster1.xml" Id="R470156191fb54886" /><Relationship Type="http://schemas.openxmlformats.org/officeDocument/2006/relationships/presProps" Target="/ppt/presProps.xml" Id="Rea6a1662d75e4eca" /><Relationship Type="http://schemas.openxmlformats.org/officeDocument/2006/relationships/viewProps" Target="/ppt/viewProps.xml" Id="R773f4afe9c0c4411" /><Relationship Type="http://schemas.openxmlformats.org/officeDocument/2006/relationships/tableStyles" Target="/ppt/tableStyles.xml" Id="Rd40317c533374b89" /><Relationship Type="http://schemas.openxmlformats.org/officeDocument/2006/relationships/slide" Target="/ppt/slides/slide1.xml" Id="Rec8dd0f88aad473c" /><Relationship Type="http://schemas.openxmlformats.org/officeDocument/2006/relationships/slide" Target="/ppt/slides/slide2.xml" Id="Rc6105a35d5044b70" /><Relationship Type="http://schemas.openxmlformats.org/officeDocument/2006/relationships/slide" Target="/ppt/slides/slide3.xml" Id="Re8ee89e0084841cc" /><Relationship Type="http://schemas.openxmlformats.org/officeDocument/2006/relationships/slide" Target="/ppt/slides/slide4.xml" Id="R50194fb5e7f04d2a" /><Relationship Type="http://schemas.openxmlformats.org/officeDocument/2006/relationships/slide" Target="/ppt/slides/slide5.xml" Id="Rad43b51c77c044cc" /><Relationship Type="http://schemas.openxmlformats.org/officeDocument/2006/relationships/slide" Target="/ppt/slides/slide6.xml" Id="R9e7596e676dd4a48" /><Relationship Type="http://schemas.openxmlformats.org/officeDocument/2006/relationships/slide" Target="/ppt/slides/slide7.xml" Id="R752b226525584ac4" /><Relationship Type="http://schemas.openxmlformats.org/officeDocument/2006/relationships/slide" Target="/ppt/slides/slide8.xml" Id="Ra593e0c4a23b498f" /><Relationship Type="http://schemas.openxmlformats.org/officeDocument/2006/relationships/slide" Target="/ppt/slides/slide9.xml" Id="Rc2cb4a25ddf74171" /><Relationship Type="http://schemas.openxmlformats.org/officeDocument/2006/relationships/slide" Target="/ppt/slides/slide10.xml" Id="Rf646513107974462" /><Relationship Type="http://schemas.openxmlformats.org/officeDocument/2006/relationships/slide" Target="/ppt/slides/slide11.xml" Id="Rac4816c2a4ac4f36" /><Relationship Type="http://schemas.openxmlformats.org/officeDocument/2006/relationships/slide" Target="/ppt/slides/slide12.xml" Id="R12031d2d1ef04a09" /><Relationship Type="http://schemas.openxmlformats.org/officeDocument/2006/relationships/slide" Target="/ppt/slides/slide13.xml" Id="Rdaca29824bd94c59" /><Relationship Type="http://schemas.openxmlformats.org/officeDocument/2006/relationships/slide" Target="/ppt/slides/slide14.xml" Id="R94d2d5233bb9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b84f21a4a93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MiniClaudeTalk">
  <a:themeElements>
    <a:clrScheme name="MiniClaudeTalk">
      <a:dk1>
        <a:srgbClr val="0B1220"/>
      </a:dk1>
      <a:lt1>
        <a:srgbClr val="F8FAFC"/>
      </a:lt1>
      <a:dk2>
        <a:srgbClr val="1E293B"/>
      </a:dk2>
      <a:lt2>
        <a:srgbClr val="CBD5E1"/>
      </a:lt2>
      <a:accent1>
        <a:srgbClr val="2DD4BF"/>
      </a:accent1>
      <a:accent2>
        <a:srgbClr val="0F766E"/>
      </a:accent2>
      <a:accent3>
        <a:srgbClr val="FBBF24"/>
      </a:accent3>
      <a:accent4>
        <a:srgbClr val="38BDF8"/>
      </a:accent4>
      <a:accent5>
        <a:srgbClr val="A78BFA"/>
      </a:accent5>
      <a:accent6>
        <a:srgbClr val="FB7185"/>
      </a:accent6>
      <a:hlink>
        <a:srgbClr val="2DD4BF"/>
      </a:hlink>
      <a:folHlink>
        <a:srgbClr val="0F766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iClaudeTal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36623ac690470c" /><Relationship Type="http://schemas.openxmlformats.org/officeDocument/2006/relationships/notesMaster" Target="/ppt/notesMasters/notesMaster1.xml" Id="R5a3cd827df2141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2e68be243f4104" /><Relationship Type="http://schemas.openxmlformats.org/officeDocument/2006/relationships/notesMaster" Target="/ppt/notesMasters/notesMaster1.xml" Id="R4745a9b23d6846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8556843f24999" /><Relationship Type="http://schemas.openxmlformats.org/officeDocument/2006/relationships/notesMaster" Target="/ppt/notesMasters/notesMaster1.xml" Id="Rc4b4b43898a643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fad3c3e9bf4235" /><Relationship Type="http://schemas.openxmlformats.org/officeDocument/2006/relationships/notesMaster" Target="/ppt/notesMasters/notesMaster1.xml" Id="R5468d7c8e1ed47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99135141d04555" /><Relationship Type="http://schemas.openxmlformats.org/officeDocument/2006/relationships/notesMaster" Target="/ppt/notesMasters/notesMaster1.xml" Id="R0d5870b27a9545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89d1909b5444a" /><Relationship Type="http://schemas.openxmlformats.org/officeDocument/2006/relationships/notesMaster" Target="/ppt/notesMasters/notesMaster1.xml" Id="R641b999126c143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2f47018fab4837" /><Relationship Type="http://schemas.openxmlformats.org/officeDocument/2006/relationships/notesMaster" Target="/ppt/notesMasters/notesMaster1.xml" Id="R7057a389148546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7955c85714475" /><Relationship Type="http://schemas.openxmlformats.org/officeDocument/2006/relationships/notesMaster" Target="/ppt/notesMasters/notesMaster1.xml" Id="R5901378a03e14d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e79bdac5b54a6d" /><Relationship Type="http://schemas.openxmlformats.org/officeDocument/2006/relationships/notesMaster" Target="/ppt/notesMasters/notesMaster1.xml" Id="R80605b602df543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f38f1578c540ef" /><Relationship Type="http://schemas.openxmlformats.org/officeDocument/2006/relationships/notesMaster" Target="/ppt/notesMasters/notesMaster1.xml" Id="R38125ca3071042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35e7c53fbe464d" /><Relationship Type="http://schemas.openxmlformats.org/officeDocument/2006/relationships/notesMaster" Target="/ppt/notesMasters/notesMaster1.xml" Id="Rebaf762b78bf46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b2864e1aef4795" /><Relationship Type="http://schemas.openxmlformats.org/officeDocument/2006/relationships/notesMaster" Target="/ppt/notesMasters/notesMaster1.xml" Id="R42c2170048a342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c8485a960e445a" /><Relationship Type="http://schemas.openxmlformats.org/officeDocument/2006/relationships/notesMaster" Target="/ppt/notesMasters/notesMaster1.xml" Id="R9b7c5833a14748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53796b2ba64a8c" /><Relationship Type="http://schemas.openxmlformats.org/officeDocument/2006/relationships/notesMaster" Target="/ppt/notesMasters/notesMaster1.xml" Id="R9ff9b63d8be5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Focus on what was built and how the pieces work — not the study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Skip process talk — go straight into the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Frame: product-shaped capabilities, learning-depth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rings: core inside, policy outside.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tool_calls parity across providers briefly.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left→right once, then the onion. Emphasize: topology stays call_model ↔ ToolNode.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concrete detail audiences remember.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--plan write denied, or ask interrupt.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Claude Code mental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Permissions gate tool names; content policy gates bodies.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here: invite questions by row. Then demos. Future slides are Planned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C: start slack.sh run before the talk; chat in Slack. Same ReAct + sessions — Slack is only a channel.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Emphasize: shipped through M26; these are future extensions.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future roadmap, then open Q&amp;A.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9818b155d4fd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1531CCA-82F7-4FA8-AD35-7680B7F79AA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FF8525C-F07E-485D-A349-EF60877FACA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42076E-D6B2-4E6D-ACBD-2591000C393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4EE0CE-1688-4ED1-8F84-A2BE95850D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e69bd4d175b4359" /><Relationship Type="http://schemas.openxmlformats.org/officeDocument/2006/relationships/slideLayout" Target="/ppt/slideLayouts/slideLayout2.xml" Id="Rdd3701ce221d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020D91-B571-419B-9673-C6AB7BA9FCB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3701ce221d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a6f0aaffb4b29" /><Relationship Type="http://schemas.openxmlformats.org/officeDocument/2006/relationships/image" Target="/ppt/media/image.jpeg" Id="Rb17b1289b9d241d6" /><Relationship Type="http://schemas.openxmlformats.org/officeDocument/2006/relationships/notesSlide" Target="/ppt/notesSlides/notesSlide1.xml" Id="R30ba297c62dc4a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83573c6b6740ec" /><Relationship Type="http://schemas.openxmlformats.org/officeDocument/2006/relationships/notesSlide" Target="/ppt/notesSlides/notesSlide2.xml" Id="R23d45420f50c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f2c919b2234fb2" /><Relationship Type="http://schemas.openxmlformats.org/officeDocument/2006/relationships/notesSlide" Target="/ppt/notesSlides/notesSlide3.xml" Id="Re99eb6c0178848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9a8c62262a4c79" /><Relationship Type="http://schemas.openxmlformats.org/officeDocument/2006/relationships/image" Target="/ppt/media/image2.jpeg" Id="Rf5e637c0e77948ed" /><Relationship Type="http://schemas.openxmlformats.org/officeDocument/2006/relationships/notesSlide" Target="/ppt/notesSlides/notesSlide4.xml" Id="R0bd65a57a2544b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017cf7bdd84450" /><Relationship Type="http://schemas.openxmlformats.org/officeDocument/2006/relationships/notesSlide" Target="/ppt/notesSlides/notesSlide5.xml" Id="R0bbc8fed94c849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2dbcf570034362" /><Relationship Type="http://schemas.openxmlformats.org/officeDocument/2006/relationships/notesSlide" Target="/ppt/notesSlides/notesSlide6.xml" Id="R525d0515dc5f46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b691e750d64de8" /><Relationship Type="http://schemas.openxmlformats.org/officeDocument/2006/relationships/notesSlide" Target="/ppt/notesSlides/notesSlide7.xml" Id="Rd438eb1a0f04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084d47b994df2" /><Relationship Type="http://schemas.openxmlformats.org/officeDocument/2006/relationships/image" Target="/ppt/media/image3.jpeg" Id="Rcd84c71378514eb3" /><Relationship Type="http://schemas.openxmlformats.org/officeDocument/2006/relationships/notesSlide" Target="/ppt/notesSlides/notesSlide8.xml" Id="R4167133e070f40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e59f7f58484180" /><Relationship Type="http://schemas.openxmlformats.org/officeDocument/2006/relationships/notesSlide" Target="/ppt/notesSlides/notesSlide9.xml" Id="R9a8a533c793841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ad015eddc4b27" /><Relationship Type="http://schemas.openxmlformats.org/officeDocument/2006/relationships/notesSlide" Target="/ppt/notesSlides/notesSlide10.xml" Id="R82192758f62344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1eb8a780e84873" /><Relationship Type="http://schemas.openxmlformats.org/officeDocument/2006/relationships/notesSlide" Target="/ppt/notesSlides/notesSlide11.xml" Id="R747c7eecc21e4a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e291bf6f784a57" /><Relationship Type="http://schemas.openxmlformats.org/officeDocument/2006/relationships/notesSlide" Target="/ppt/notesSlides/notesSlide12.xml" Id="Rd8f7e48ecdc94e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61876debe42ba" /><Relationship Type="http://schemas.openxmlformats.org/officeDocument/2006/relationships/notesSlide" Target="/ppt/notesSlides/notesSlide13.xml" Id="Ree6834660f9942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0c34421f1f4628" /><Relationship Type="http://schemas.openxmlformats.org/officeDocument/2006/relationships/image" Target="/ppt/media/image4.jpeg" Id="R6c74d234d65c4fcd" /><Relationship Type="http://schemas.openxmlformats.org/officeDocument/2006/relationships/notesSlide" Target="/ppt/notesSlides/notesSlide14.xml" Id="R239517beb3884c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C3253-371F-4DF5-B5C4-E3580024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b1289b9d241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2727A-8710-4A4E-8722-02C96B1F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80000"/>
            </a:srgbClr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B53EC-FBAE-4FFE-81D9-D8A010B4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18935-DECE-4481-A108-DEE8B80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609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Build a Mini Claude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5B295-7CED-44AA-A026-FF0CA17A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09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with LangChain &amp; LangGraph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C24DB-D36F-4E3D-BBFF-FCA7F546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609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What we built · how it works · details worth knowing · M0–M26</a:t>
            </a:r>
          </a:p>
        </p:txBody>
      </p:sp>
    </p:spTree>
    <p:extLst>
      <p:ext uri="{BB962C8B-B14F-4D97-AF65-F5344CB8AC3E}">
        <p14:creationId xmlns:p14="http://schemas.microsoft.com/office/powerpoint/2010/main" val="12257029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23413-D9D1-4B7C-943B-3985A266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C6D2C-27CE-49D7-AAE1-4F3B7E43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5F5D8-1E0E-4926-85AA-5D9042FA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4A9D8-0E0F-4EAA-980E-CFFCCA5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What we will 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A49DD-DCFB-4BAB-8D00-72EC087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Built system first, then the details that matter.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4874A-C7A5-4730-A077-A9D37646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049000" cy="53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13B9F-98BB-4569-A3E0-4A36452C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22359-AC4D-4127-8F94-3C9DA31F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What this mini Claude Code can 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16E23-F2D6-4958-B94D-E08DD29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1049000" cy="53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8751A-CB0C-4A38-8762-29A4125B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4D86E-4A92-4318-995D-D7A0CD7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Architecture: thin ReAct core + policy plane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EAD79-F016-4C58-AD83-8FD1EE45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049000" cy="53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2888E-479D-4AA6-8DC3-5F869BDF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8B72C-44AA-4F47-A085-9F0C79F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Core loop + high-level call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6DA40-CEF5-4AE6-81C5-92E8207A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1049000" cy="53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6D7DA-523F-4BD5-9989-9922548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9D049-515B-4B1E-9420-4F420DE3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Sessions, safety, extensibility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0D0ED-FEC6-4F4F-8E1D-64136485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1049000" cy="53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82514-00B6-471E-8203-1EFCA813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1A188-E211-45CB-8DCA-313D9130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Built / effect / knowledge map (Q&amp;A)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013E1-EAB2-4901-A3E4-FEAB070B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049000" cy="53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69539-FD07-4D0D-B441-669C09DC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C3059-3E40-4EED-98AD-8440F39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Live demos (CLI chat, policy, Slack)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27D3B6-19B7-449C-8498-5672852D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049000" cy="53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5B283-B144-4C0C-8384-D274EB76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2E204C-2366-4A35-BDDE-CE50291E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What’s next: planned extensions (M27–M38)</a:t>
            </a:r>
          </a:p>
        </p:txBody>
      </p:sp>
    </p:spTree>
    <p:extLst>
      <p:ext uri="{BB962C8B-B14F-4D97-AF65-F5344CB8AC3E}">
        <p14:creationId xmlns:p14="http://schemas.microsoft.com/office/powerpoint/2010/main" val="8973438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5C1F7-485C-4617-9593-19514251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DE75C-D43D-4772-8213-8654311D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E7220-5493-417E-8EEE-56F6228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THE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6EC50-F6AA-41AD-9DBE-092C8B23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A mini Claude Code — on 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FC34-B731-47A9-B3F0-B3F3E08F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A coding agent you can reason about end-to-end.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7F8B9-FA38-4A85-A986-86E406D4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52425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21B8F-92A6-408D-9C9D-B807CE35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What it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7834B-9876-4B2E-963F-D0D6A5F8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Read / search / edit a workspace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Run shell (sandboxed)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Multi-turn sessions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Ask before dangerous tools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Plugins, MCP, Slack, ship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7579E-67C1-4C36-8CD2-1E26F0B5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52425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89391-09D2-4B78-B357-E0F74E8D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How it 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D8574-53B0-425B-A96E-453F86DD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LangGraph ReAct loop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LangChain tools + providers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Checkpointer sessions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Policy wraps around tools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Same graph, richer planes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B3E85-29F8-4F59-B07F-F129912D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52425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827FD-1287-4EA3-B3F6-04929E66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Details that matter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AE803-B3B9-4995-BDB2-7939ABAE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Permissions vs content policy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Sync vs async checkpointer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Skill ≠ subagent ≠ MCP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Install ≠ trust/enable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stdio MCP vs HTTP (next)</a:t>
            </a:r>
          </a:p>
        </p:txBody>
      </p:sp>
    </p:spTree>
    <p:extLst>
      <p:ext uri="{BB962C8B-B14F-4D97-AF65-F5344CB8AC3E}">
        <p14:creationId xmlns:p14="http://schemas.microsoft.com/office/powerpoint/2010/main" val="12014380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EED04-5CAC-4068-B0CE-11102DF8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637c0e77948ed"/>
          <a:srcRect xmlns:a="http://schemas.openxmlformats.org/drawingml/2006/main" l="25120" t="0" r="25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143000"/>
            <a:ext cx="4381500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4774A-8621-4449-92CA-F088706D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4DE71-C304-48A2-960B-A6C41D12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2E51D-7F99-469E-AD2A-8C2194F6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Thin ReAct core, thick policy 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0DE5F-57DA-4D91-81C0-C39B5369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Most power sits around the loop — not inside new graph nodes.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9EE03-814F-4310-9E4C-4E55C0CD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47700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06485-EE1E-40BF-BA2B-D53ACDB6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Core (LangGraph)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C431A-CE0B-48A1-85B6-09D3BEB1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call_model  ↔  ToolNode
Same topology from early ReAct through M26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24843-27AA-4DF5-9B2C-26E6899A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6477000" cy="2095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E8090-A2A8-4E8A-83AA-12EEBD7E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</a:defRPr>
            </a:pPr>
            <a:r>
              <a:rPr sz="1350" b="1">
                <a:solidFill>
                  <a:srgbClr val="FBBF24"/>
                </a:solidFill>
              </a:rPr>
              <a:t>Policy &amp; extension plane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F12B4-FA0A-4CAE-8CBD-83A8BB39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permissions · HITL interrupt · hooks · skills · MCP
plugins/trust · content policy · compact · memory · sandbox</a:t>
            </a:r>
          </a:p>
        </p:txBody>
      </p:sp>
    </p:spTree>
    <p:extLst>
      <p:ext uri="{BB962C8B-B14F-4D97-AF65-F5344CB8AC3E}">
        <p14:creationId xmlns:p14="http://schemas.microsoft.com/office/powerpoint/2010/main" val="9727392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6FFC1-DC22-40B6-96F4-3CE94E12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525C3-B555-4D91-A0A7-0B27F967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2CB26-FDA0-4DA6-9E39-BE4DB0EE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CORE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7B1BC-D117-48A5-8967-7C3F761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ReAct is deliberately simple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B9191-137F-433F-875E-536306E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Provider tools → StateGraph → filesystem/shell → streaming.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1BC04-302E-45FB-A5B9-DB6AB64E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667000" cy="1524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27AF4-119F-474B-A4F5-1C4E48BC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99B9F-C1C5-45F6-8CA2-E0E9B8D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Human 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087B0-DAA4-479C-BB3F-0E7AF0C8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2667000" cy="1524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AB636-F5B3-40DD-A226-2C5C150E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19375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call_model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DFCCB-B5B7-4BE5-ADF7-D38EB0C8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bind_tools +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2D7F8-651A-4CBF-BB68-B422487A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667000" cy="1524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5A979-3C24-4757-9E1E-E104849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ToolNode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B7BAE-B51F-46E8-B9EE-B81AE5EF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run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00AF7-D356-4163-A306-79FD2FB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667000" cy="1524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2761C-DC6A-496A-AE20-AD3B00EC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D664E-FEF6-4D6D-849D-3EBE04AD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final 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C9549-9BC2-4F8D-A74D-768D4281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112520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57936-39A6-4529-ADBC-8136D772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BF24"/>
                </a:solidFill>
              </a:defRPr>
            </a:pPr>
            <a:r>
              <a:rPr sz="1200" b="1">
                <a:solidFill>
                  <a:srgbClr val="FBBF24"/>
                </a:solidFill>
              </a:rPr>
              <a:t>Detail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CE107-C34D-4355-9851-C6DC5639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If tool_calls → tools → model again. Else → END.
Filesystem + shell make it a coding agent — the graph shape stays the same.</a:t>
            </a:r>
          </a:p>
        </p:txBody>
      </p:sp>
    </p:spTree>
    <p:extLst>
      <p:ext uri="{BB962C8B-B14F-4D97-AF65-F5344CB8AC3E}">
        <p14:creationId xmlns:p14="http://schemas.microsoft.com/office/powerpoint/2010/main" val="14224809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3F149-2699-4F08-99E5-3AB54969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909E2-4864-40BA-82A2-04E95E89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0002E-865C-4AC9-9A46-ADF16AF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CALL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0C67B-ABCB-4C06-B2C4-808F12D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Build a Mini Claude Code with LangChain &amp; LangGraph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0C74D-3486-4E38-8060-B204D0D2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One request’s shape — graph stays two nodes; policy is a wrap onion.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3112B-AED0-4768-A1B4-8D6DEFD6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4E979-0750-44EC-82B0-65952EBD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CLI / Slack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8F9F1-8790-421B-828A-15D62A82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5BC1A-2159-46F6-B75D-02443C18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75B76-910F-4C93-96FA-9D3FBF8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compact +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FAE90-856B-4C15-9F64-A9E76C13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CD18F-6BA6-4678-9C65-ABCD50A4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0DFA0-0FBB-48E2-9C2B-C84511B9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call_model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8947A-7C6D-475D-803B-D25B876A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LLM +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223A2-DC7C-42AC-B1B5-0845C90D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07F17-C2A5-4E4F-821E-94743163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2457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ToolNode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5F7A4-A0EE-404E-B50B-CB5BB5DF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</a:defRPr>
            </a:pPr>
            <a:r>
              <a:rPr sz="1050" b="0">
                <a:solidFill>
                  <a:srgbClr val="CBD5E1"/>
                </a:solidFill>
              </a:rPr>
              <a:t>Execute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66923-FE68-48B6-9EE7-D49BE65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104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BBF24"/>
                </a:solidFill>
              </a:defRPr>
            </a:pPr>
            <a:r>
              <a:rPr sz="1125" b="0">
                <a:solidFill>
                  <a:srgbClr val="FBBF24"/>
                </a:solidFill>
              </a:rPr>
              <a:t>tool_calls? → ToolNode → back to call_model   ·   else → 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C752D-541D-4FCF-9500-DDF9B648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047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Inside one tool call (outer → inner)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4518F-BFE1-498C-8F3A-2E590A7D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14750"/>
            <a:ext cx="2209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D48D1-A2F3-4A0B-988B-B00FEF8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Pre hooks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2C9A8-2BD8-4BEF-92AC-2D685A6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D4BF"/>
                </a:solidFill>
              </a:defRPr>
            </a:pPr>
            <a:r>
              <a:rPr sz="975" b="0">
                <a:solidFill>
                  <a:srgbClr val="2DD4BF"/>
                </a:solidFill>
              </a:rPr>
              <a:t>M15 / M24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D407A-CE8E-4C30-88FE-66FBA469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14750"/>
            <a:ext cx="2209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733B5-286C-4F70-9AE2-444ECE34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05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Permissions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+ HITL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A5BCF-E59E-48ED-9B94-DDAF6648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672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D4BF"/>
                </a:solidFill>
              </a:defRPr>
            </a:pPr>
            <a:r>
              <a:rPr sz="975" b="0">
                <a:solidFill>
                  <a:srgbClr val="2DD4BF"/>
                </a:solidFill>
              </a:rPr>
              <a:t>M9 / M10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E40C4-24ED-46CD-815A-F47FCEC1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14750"/>
            <a:ext cx="2209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BD24E-DD75-4FA4-AF43-765E1449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05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Tool body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FS / shell / MCP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4CA91-1379-4770-9FCC-8A0A836A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D4BF"/>
                </a:solidFill>
              </a:defRPr>
            </a:pPr>
            <a:r>
              <a:rPr sz="975" b="0">
                <a:solidFill>
                  <a:srgbClr val="2DD4BF"/>
                </a:solidFill>
              </a:rPr>
              <a:t>M3–M14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AC803E-05D0-4C01-9EDE-CE8D9A18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2209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A6D9A3-AF33-4CBE-9A7B-8C40C332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Content</a:t>
            </a:r>
          </a:p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B65242-B835-45C2-9EAE-886034ED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672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D4BF"/>
                </a:solidFill>
              </a:defRPr>
            </a:pPr>
            <a:r>
              <a:rPr sz="975" b="0">
                <a:solidFill>
                  <a:srgbClr val="2DD4BF"/>
                </a:solidFill>
              </a:rPr>
              <a:t>M26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E0E63-0FCD-4AEF-90C1-8A15ACA6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14750"/>
            <a:ext cx="22098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90C2B1-6612-4682-ABE9-7E5E8704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05250"/>
            <a:ext cx="1943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Post hooks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8C2290-1CD9-49CD-970E-0342E31B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672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D4BF"/>
                </a:solidFill>
              </a:defRPr>
            </a:pPr>
            <a:r>
              <a:rPr sz="975" b="0">
                <a:solidFill>
                  <a:srgbClr val="2DD4BF"/>
                </a:solidFill>
              </a:rPr>
              <a:t>M15 / M24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49D062-29E1-424A-BE76-EB4105B1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Then ToolMessage → call_model. Checkpointer persists the thread across turns.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01A52A-D2AA-4797-BF28-B1BB32F0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Plugins merge into these planes — they are not new LangGraph nodes.</a:t>
            </a:r>
          </a:p>
        </p:txBody>
      </p:sp>
    </p:spTree>
    <p:extLst>
      <p:ext uri="{BB962C8B-B14F-4D97-AF65-F5344CB8AC3E}">
        <p14:creationId xmlns:p14="http://schemas.microsoft.com/office/powerpoint/2010/main" val="4651322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3A922-2B14-43A0-B992-9BAE41E5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9ED3F-0F02-47B2-BC9F-03A46C48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B64E1-4E4A-4B9E-BD26-B5B80852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SESSIONS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D9353-4552-4333-8F71-D2C00928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Checkpointer = conversation durability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98A43-D9E6-4E16-82D4-7C075160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thread_id is the session. In-memory dies with the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D5D2C-2402-48A9-9F87-0B27B4D1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1125200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19F16-908F-497B-909E-A58DF8B7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MemorySaver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6BD76-E074-4CBC-9403-03DCA502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Tests / offline 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786B6-7652-4D71-8846-E15728B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Gone on process exit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33CEF-6A97-4745-A56D-C60BFB10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1125200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0D426-B475-4CF0-9AEF-E399B2A8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PostgresSaver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4CEAB-8C11-42A5-A18C-EA17D092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99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Sync invoke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BA747-9E66-444F-A6C0-334F7A37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Durable across restarts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785E8-53C0-4CD0-A0E1-8A1412EA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1125200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C6241-B49F-45A2-93C3-2F5B847D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AsyncPostgresSaver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4F3BE-3C9C-4CBB-8498-32F002AA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Default ainvoke / astream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98B61-F82F-465C-B3A0-BC8E3C14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Required for async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AA492-7DD0-45E7-AD26-92F8B7BF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BF24"/>
                </a:solidFill>
              </a:defRPr>
            </a:pPr>
            <a:r>
              <a:rPr sz="1200" b="1">
                <a:solidFill>
                  <a:srgbClr val="FBBF24"/>
                </a:solidFill>
              </a:rPr>
              <a:t>Detail: ainvoke + sync PostgresSaver fails — async needs AsyncPostgresSaver</a:t>
            </a:r>
          </a:p>
        </p:txBody>
      </p:sp>
    </p:spTree>
    <p:extLst>
      <p:ext uri="{BB962C8B-B14F-4D97-AF65-F5344CB8AC3E}">
        <p14:creationId xmlns:p14="http://schemas.microsoft.com/office/powerpoint/2010/main" val="557985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01D38-2625-4BAB-A884-2EFAB935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4c71378514eb3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524000"/>
            <a:ext cx="40005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CFC9F-312A-434A-B1A5-ECB69351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A6596-2CCC-40D8-9B7B-A7E21796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C8491-082D-4B27-A375-DE8097A8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Agents that can write need brakes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40C13-39FB-42BC-9EDA-530D4A83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858000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5430-8808-48BF-AF61-84B27FE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Permissions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8BCC4-1A8F-40C1-9444-27C3A202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auto / ask / deny per tool 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9A6E5-35D3-4DBB-A512-D0077828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858000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A2984-3C7F-4EDB-A431-3D0A82ED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Plan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59690-4E83-4E06-9807-1354A86D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deny mutating tools for read-only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8649F-AFA9-4848-88CB-F8DF8D63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6858000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58B01-9229-4784-9753-81D8F4FB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HITL interrupt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B6450-5D90-4CD2-AF0F-EA634266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pause → human → Command(resume)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FA44B-677D-4317-A368-849B3F8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6858000" cy="838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EB3DF-A52B-4A03-A9C3-813E3BD1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Docker sandbox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A7C97-E356-4841-8572-A9AB9D3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run_shell in an ephemeral container</a:t>
            </a:r>
          </a:p>
        </p:txBody>
      </p:sp>
    </p:spTree>
    <p:extLst>
      <p:ext uri="{BB962C8B-B14F-4D97-AF65-F5344CB8AC3E}">
        <p14:creationId xmlns:p14="http://schemas.microsoft.com/office/powerpoint/2010/main" val="12746139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36600-C604-43D6-AE79-8D2D71A8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B49D7-6C4E-4F93-96B4-246466B1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08A6A-BB8A-4F68-A717-0347DB80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EXTENSIBILITY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42538-A12B-4AF4-B8F6-1046BB0E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Most extensions are not new graph nodes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335DC-C5D6-46C4-9A66-62717CC5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Same ReAct ring. Different merge planes.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FC8AE-F081-423C-A60F-9F1CDEBF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53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C4DD3-9058-4EA1-846C-F823FB50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</a:defRPr>
            </a:pPr>
            <a:r>
              <a:rPr sz="1125" b="1">
                <a:solidFill>
                  <a:srgbClr val="2DD4BF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C95FC-0585-4E42-9842-D7D828FB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</a:defRPr>
            </a:pPr>
            <a:r>
              <a:rPr sz="1125" b="1">
                <a:solidFill>
                  <a:srgbClr val="2DD4BF"/>
                </a:solidFill>
              </a:rPr>
              <a:t>What it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62EE1-85BB-4EE5-A4D3-20F4DA9C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</a:defRPr>
            </a:pPr>
            <a:r>
              <a:rPr sz="1125" b="1">
                <a:solidFill>
                  <a:srgbClr val="2DD4BF"/>
                </a:solidFill>
              </a:rPr>
              <a:t>Common mix-up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92A55-539D-4BD1-885E-28BBB67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609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53406-ED4A-4897-9E13-47F3764E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Slash /review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C8F4A-6297-4835-A3A8-598A0D30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Changes HumanMessage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BCAA2-F08F-48F5-BBD0-937F771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Not a new capability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3B8F1-CA03-40E6-A824-E3E316F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1125200" cy="609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31871-E9BA-401F-BF95-775BEF4D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CABEE-F264-4812-9A9D-8684D6D1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Prompt / playbook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64830-2541-4D4D-A445-931621E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Not a sub-process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A0FAE-9572-4A43-9E9F-3E2C4176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609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D16D9-DFB1-4B09-86FB-EADD1B71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Subagent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F1FF3-5F13-4B0A-AB4B-A3A64221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Isolated child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F4F91-8E7F-4C97-8D33-3E58540D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Not multi-model routing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2C25F-7C32-4F6D-8AD0-3739168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1125200" cy="609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C8B92-4042-4318-AAFB-6AF863B8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MCP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A2B49-D2AE-4B4F-B6A8-4AADC6F8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Tool list from a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E93A28-BB0A-40D8-B5E1-00AE1D48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Not another LangGraph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E9A30-1D38-4BC7-ACC2-4D496C7B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1125200" cy="609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E3F74E-C20B-46DF-990B-8FAD27B1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Hook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BB380-F87F-45FD-9E46-356795E9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435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Pre/Post tool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30176-7F33-4BBA-BEEC-675605C2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Not a permissions replacement</a:t>
            </a:r>
          </a:p>
        </p:txBody>
      </p:sp>
    </p:spTree>
    <p:extLst>
      <p:ext uri="{BB962C8B-B14F-4D97-AF65-F5344CB8AC3E}">
        <p14:creationId xmlns:p14="http://schemas.microsoft.com/office/powerpoint/2010/main" val="10949776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B5AC7-F940-4F31-A754-72C3154E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525B-D326-4DDF-B942-12E80499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DBCD6-6F17-401A-B791-30EB09A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PLUGINS &amp;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F3F67-27BE-4652-9E38-2AE9C044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Packs, trust, and content-aware denies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D7829-3633-49B9-AE45-F934182F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334000" cy="1619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90EBA-1868-4478-A52F-5B6423E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Plugin packs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C0A1D-29DD-4D84-82B2-1C66A359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Manifest merges skills + MCP + subagents into existing 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8D9AB-A39D-4595-ADB0-432B1384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5334000" cy="1619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8E1D1-FB41-4D38-AE40-FD0CB6CF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Shell hooks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E60E7-BBA7-4C03-B6C3-6A36888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Script runners, deny-by-default, slash discovery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1159B-D785-444F-A8AC-F19E891F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5334000" cy="1619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C43A2-6E1C-4DAA-9BF3-56CEE70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Install &amp; 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FC583-9EF0-47A1-B5D7-A08ABDC4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install ≠ enable; capability flags in trust 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151B3-F344-47E8-80D8-5987B43E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5334000" cy="1619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622FE-17AF-4295-A94F-3F49FE1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476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Content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03C7D-491C-4C16-830C-15B1CC89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no-ai / CONFIDENTIAL — tool allowed, body denied</a:t>
            </a:r>
          </a:p>
        </p:txBody>
      </p:sp>
    </p:spTree>
    <p:extLst>
      <p:ext uri="{BB962C8B-B14F-4D97-AF65-F5344CB8AC3E}">
        <p14:creationId xmlns:p14="http://schemas.microsoft.com/office/powerpoint/2010/main" val="14561589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0C54A-70CE-4C9C-AFA0-60D0A942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D8514-6A62-42B1-9990-0FD21C30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95799-7FDF-443D-9915-2DBF498E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RECAP · ASK ABOUT THESE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77A5A-998E-4DD2-A9CE-3B3B9AD5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What we built · effect · knowledge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37CAB-5928-442F-A4A5-641F780A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Use this list to ask questions — pick any row.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920AA-14EB-411F-9701-D2A18A4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57375"/>
            <a:ext cx="1143000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05996-7AD6-44B1-BF68-A080AE0D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63AC1-EE4F-4DAC-A2A0-66E49284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Effect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60020-B166-4477-B167-F55C17E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Knowledge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40104-165D-4010-840B-8C3862A2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C649B-6BFE-4CDD-B999-8C26743A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ReAct StateGraph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C2BDC-8321-4948-80F6-69D72903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Model ↔ tools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A3AF8-EAC8-4BC2-AFCF-3E5F99EF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LangGraph topology; tool_calls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DE457-3CFF-4FC8-A327-AF564B42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384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E0D9B-4B05-4959-8D99-3AD31DE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FS / shell / sandbox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4194F-719B-47CF-974A-7E90DC86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Agent can edit &amp; run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C7929-0244-48BD-9E68-A426D497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Tools + Docker isolation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021A4-5B88-495C-BDA6-38BACBEA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956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D2487-876C-4347-BAF5-1BC7B136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Checkpointer + thread_id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5E9A2-A2D1-44FC-B0B0-E34F5777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Multi-turn / 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6B9F1-725A-41A5-ADE6-8706B523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Session ≠ long-term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952C4-BBB3-4DB5-A290-48CE6154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528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B9336-7AB8-4140-A10F-40127531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Permissions + Plan + HITL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2C1B1-A2B8-425D-A8A9-2F2AFE07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Safe mutating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AB49D1-A730-4127-9A35-1632FB9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auto/ask/deny; interrupt/resume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A985B-A11A-4438-B174-128B5910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F4E15-5D68-4CE2-94BC-6BD5CE86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Compact + memory stores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2BA35-ED64-4C81-8227-C971306F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Long context + recall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189623-8E38-45AC-ACDC-452BAEB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pgvector / Neo4j / ES roles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F435B-A68C-4AB9-A664-0E09261E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210B5E-271D-4A49-927C-6E4DDAF9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Skills / subagents / MCP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6C5698-492A-4B33-A767-F652307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Extend without new nodes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114CA3-DBCF-4851-833A-9E6D7CD8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Prompt vs isolate vs protocol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C2D89-BAA0-4A8F-ABCC-AC21D22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244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3C700B-8E92-4944-A666-2BC6E6E7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Hooks + plugins + trust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F95364-4324-4F75-AD6F-852B5CFA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Pack &amp; gate extensions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CEA328-9A20-4B47-A04F-E3FB6B8A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Merge planes; install ≠ enable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9D5E87-17A0-4162-BE95-076A5A41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816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344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A8302F-3926-4093-A1B5-1C9CD44C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Content policy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9DA733-6DED-49DD-AAF7-EB061F79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76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Block no-ai bodies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91D548-3A6F-4CFB-815A-F74BE5FF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76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Tool ACL ≠ content ACL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D334A4-3F69-44C5-86A3-CC5A3928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1430000" cy="419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37882F-3810-4EB2-B964-2742314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Async runtime + Slack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CAF7C1-32FA-4B7E-93C9-C664166C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34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ainvoke; channel UI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9B4C8E-A2ED-44F4-B470-3D67D60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34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Coroutine wraps; interface ≠ graph</a:t>
            </a:r>
          </a:p>
        </p:txBody>
      </p:sp>
    </p:spTree>
    <p:extLst>
      <p:ext uri="{BB962C8B-B14F-4D97-AF65-F5344CB8AC3E}">
        <p14:creationId xmlns:p14="http://schemas.microsoft.com/office/powerpoint/2010/main" val="3970713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267BB-CD59-4385-8391-81741D29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9DD13-B772-4B04-8AA0-D51F231C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C5C6-0D6A-468E-B311-10450D52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LIVE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B2849-428E-483D-9440-794AFC08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Three demos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E5242-8E65-4BF9-BE96-B3EBCCE3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Same agent graph — CLI, policy, and Slack as another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917DC-5D13-426A-AEE4-4D19EE4F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0250"/>
            <a:ext cx="371475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4EAAB-BA71-4191-B624-B6FEBD26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Demo A — Chat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15571-30F8-4BB2-B434-527AF8E7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./scripts/chat.sh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Multi-turn REPL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Same thread_id = one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5C990-435B-4239-8362-A96C3E34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71475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759E7-A5FF-4F51-BF0E-6058EE4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BF24"/>
                </a:solidFill>
              </a:defRPr>
            </a:pPr>
            <a:r>
              <a:rPr sz="1500" b="1">
                <a:solidFill>
                  <a:srgbClr val="FBBF24"/>
                </a:solidFill>
              </a:rPr>
              <a:t>Demo B —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4022A-AC34-40B4-AF07-46ADC772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Plan Mode: write file → deny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Or (no --plan):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read_doc secret-no-ai → content deny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88B91-E960-4EAE-B7B7-9773B37E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71475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D4AE-8420-4A6F-A29C-DA16601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BDF8"/>
                </a:solidFill>
              </a:defRPr>
            </a:pPr>
            <a:r>
              <a:rPr sz="1500" b="1">
                <a:solidFill>
                  <a:srgbClr val="38BDF8"/>
                </a:solidFill>
              </a:rPr>
              <a:t>Demo C — Slack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3F7F0-0CD4-4938-B636-AE3EC2B3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./scripts/slack.sh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Message the bot in Slack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Same graph + checkpointer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(not a new agent)</a:t>
            </a:r>
          </a:p>
        </p:txBody>
      </p:sp>
    </p:spTree>
    <p:extLst>
      <p:ext uri="{BB962C8B-B14F-4D97-AF65-F5344CB8AC3E}">
        <p14:creationId xmlns:p14="http://schemas.microsoft.com/office/powerpoint/2010/main" val="22727055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4A9E1-9E50-4EB7-9498-2298784F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036F3-439E-4491-877B-F1B9DCE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4C3A8-7036-442F-8AB7-18DACF7C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WHAT’S NEXT · PLANNED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A8B44-63A5-42BF-A107-24F7ED4C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Extensions not built yet (M27–M32)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F0F9B-C4EB-480F-972D-387B7B04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Depth digs after the core system — still Planned.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B12CE-6746-4C45-AD0A-48BCE9CA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33400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47434-1961-4438-B184-6E00AAC9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M27  Hybrid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6AAE6-B7B5-4611-A90B-1E61E165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ES / BM25 then vector re-rank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46371-FF3D-4B1D-B527-495DCE5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533400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47351-0AA6-4C33-B104-58AC9BD5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M28  Graph neighbor expand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A80A-6150-432D-933E-6357AC3A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Walk Neo4j NEXT around a hit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72D93-F6CF-4702-92BD-8564E602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33400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03E54-AAEF-42FC-A0F0-3326EC00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M29  MCP HTTP + session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BC72F-D7B6-4C6A-93D0-546067A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Sticky HTTP MCP beyond stdio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D19CA-387A-4ABA-A97C-B98C1E81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533400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B4C0D-EE84-4004-BD82-249A65C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M30  LangGraph 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BEA6D-4635-4241-B642-2C43E2C5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Cross-thread memory ≠ checkpointer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89A13-35B8-4FBB-B52A-BC238700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533400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5130F-8278-4528-8885-15A4EBE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M31  Time-travel / fork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E9E95-24F8-468E-8B4D-46C25303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Resume from a past checkpoint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04A48-AD22-44E2-BF74-826038C9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33400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8BA37-2E24-4EF5-8649-26FCE56A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485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M32  Parallel tool calls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78D8F-5DA0-4190-8476-CFDC076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578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Fan-out concurrent tools safely</a:t>
            </a:r>
          </a:p>
        </p:txBody>
      </p:sp>
    </p:spTree>
    <p:extLst>
      <p:ext uri="{BB962C8B-B14F-4D97-AF65-F5344CB8AC3E}">
        <p14:creationId xmlns:p14="http://schemas.microsoft.com/office/powerpoint/2010/main" val="103696878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1ACF3-B0E8-4AF0-BD61-81660E26C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04FED-F92A-4881-AF58-52FF303A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4d234d65c4f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7C071-6BFF-4810-9223-C52A542E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85098"/>
            </a:srgbClr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DA566-E258-4A83-AFF6-26468D7D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34B39-C7CD-4C37-BD7F-5F70334A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WHAT’S NEXT · PLANNED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90E3F-6482-4A56-9A59-EBCEA569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More depth (M33–M38) +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26A1E-9EF3-421F-95FE-98E3FCC5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3340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E8BFD-FFDA-48D2-BCA1-C0FFFF37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M33  ·  Structured output / tool_choice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C88D9-DDFA-4409-AE88-58514376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53340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03C4D-B928-49C3-94C0-89036BF4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M34  ·  Observability traces (LangSmith / OTel)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BA1D3-6B95-49CA-9F4D-1517F7EB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53340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A47DD-3270-4994-A477-E7A5867E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M35  ·  Multi-agent handoff (swarm-lite)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1F6EE-4628-40C3-A1C5-E2B80402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53340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E1540-E322-489B-9079-D9243BD4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M36  ·  RAG / agent eval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ABF55-E74C-4002-8C0C-F02E1819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53340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C44B4-EC6B-4884-92D5-6F4A4EA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M37  ·  Prompt cache &amp; token budgets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B2DC4-9143-41E9-9F39-D857EBF2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5334000" cy="8001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85E35-09D8-45FA-99B9-22C94EF7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M38  ·  Remote CI gate (GitHub Checks)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8225F-0B18-4947-B350-B7C562FD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571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D4BF"/>
                </a:solidFill>
              </a:defRPr>
            </a:pPr>
            <a:r>
              <a:rPr sz="2100" b="1">
                <a:solidFill>
                  <a:srgbClr val="2DD4BF"/>
                </a:solidFill>
              </a:rPr>
              <a:t>Questions?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4EA34-1869-42D1-8CD3-CA1C8914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Thin ReAct. Thick policy plane. Extend from there.</a:t>
            </a:r>
          </a:p>
        </p:txBody>
      </p:sp>
    </p:spTree>
    <p:extLst>
      <p:ext uri="{BB962C8B-B14F-4D97-AF65-F5344CB8AC3E}">
        <p14:creationId xmlns:p14="http://schemas.microsoft.com/office/powerpoint/2010/main" val="753381432"/>
      </p:ext>
    </p:extLst>
  </p:cSld>
</p:sld>
</file>

<file path=ppt/theme/theme1.xml><?xml version="1.0" encoding="utf-8"?>
<a:theme xmlns:a="http://schemas.openxmlformats.org/drawingml/2006/main" name="MiniClaudeTalk">
  <a:themeElements>
    <a:clrScheme name="MiniClaudeTalk">
      <a:dk1>
        <a:srgbClr val="0B1220"/>
      </a:dk1>
      <a:lt1>
        <a:srgbClr val="F8FAFC"/>
      </a:lt1>
      <a:dk2>
        <a:srgbClr val="1E293B"/>
      </a:dk2>
      <a:lt2>
        <a:srgbClr val="CBD5E1"/>
      </a:lt2>
      <a:accent1>
        <a:srgbClr val="2DD4BF"/>
      </a:accent1>
      <a:accent2>
        <a:srgbClr val="0F766E"/>
      </a:accent2>
      <a:accent3>
        <a:srgbClr val="FBBF24"/>
      </a:accent3>
      <a:accent4>
        <a:srgbClr val="38BDF8"/>
      </a:accent4>
      <a:accent5>
        <a:srgbClr val="A78BFA"/>
      </a:accent5>
      <a:accent6>
        <a:srgbClr val="FB7185"/>
      </a:accent6>
      <a:hlink>
        <a:srgbClr val="2DD4BF"/>
      </a:hlink>
      <a:folHlink>
        <a:srgbClr val="0F766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iClaudeTal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2026-09-06T05:50:24.0390000Z</dcterms:created>
  <dcterms:modified xsi:type="dcterms:W3CDTF">2026-09-06T05:50:24.0390000Z</dcterms:modified>
</coreProperties>
</file>